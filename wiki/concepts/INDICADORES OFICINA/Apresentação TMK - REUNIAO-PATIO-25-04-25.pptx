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399" r:id="rId2"/>
    <p:sldId id="400" r:id="rId3"/>
    <p:sldId id="401" r:id="rId4"/>
    <p:sldId id="402" r:id="rId5"/>
    <p:sldId id="427" r:id="rId6"/>
    <p:sldId id="406" r:id="rId7"/>
    <p:sldId id="407" r:id="rId8"/>
    <p:sldId id="415" r:id="rId9"/>
    <p:sldId id="416" r:id="rId10"/>
    <p:sldId id="408" r:id="rId11"/>
    <p:sldId id="409" r:id="rId12"/>
    <p:sldId id="417" r:id="rId13"/>
    <p:sldId id="410" r:id="rId14"/>
    <p:sldId id="411" r:id="rId15"/>
    <p:sldId id="412" r:id="rId16"/>
    <p:sldId id="422" r:id="rId17"/>
    <p:sldId id="423" r:id="rId18"/>
    <p:sldId id="428" r:id="rId19"/>
    <p:sldId id="405" r:id="rId20"/>
    <p:sldId id="404" r:id="rId21"/>
    <p:sldId id="403" r:id="rId22"/>
    <p:sldId id="414" r:id="rId23"/>
    <p:sldId id="424" r:id="rId24"/>
    <p:sldId id="419" r:id="rId25"/>
    <p:sldId id="425" r:id="rId26"/>
    <p:sldId id="420" r:id="rId27"/>
    <p:sldId id="426" r:id="rId28"/>
    <p:sldId id="430" r:id="rId29"/>
    <p:sldId id="429" r:id="rId30"/>
    <p:sldId id="421" r:id="rId31"/>
  </p:sldIdLst>
  <p:sldSz cx="12192000" cy="6858000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C535"/>
    <a:srgbClr val="FFF2CC"/>
    <a:srgbClr val="D95DA8"/>
    <a:srgbClr val="FEBA33"/>
    <a:srgbClr val="18B5EA"/>
    <a:srgbClr val="FDBA32"/>
    <a:srgbClr val="CCFFCC"/>
    <a:srgbClr val="FCBB2F"/>
    <a:srgbClr val="E2F0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Estilo Médio 3 - Ênfas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Estilo E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Estilo Escuro 2 - Ênfase 5/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172" autoAdjust="0"/>
  </p:normalViewPr>
  <p:slideViewPr>
    <p:cSldViewPr snapToGrid="0">
      <p:cViewPr varScale="1">
        <p:scale>
          <a:sx n="100" d="100"/>
          <a:sy n="100" d="100"/>
        </p:scale>
        <p:origin x="452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003074686805235E-2"/>
          <c:y val="3.0485290029237073E-2"/>
          <c:w val="0.95477401982723809"/>
          <c:h val="0.93902941994152589"/>
        </c:manualLayout>
      </c:layout>
      <c:pieChart>
        <c:varyColors val="1"/>
        <c:ser>
          <c:idx val="0"/>
          <c:order val="0"/>
          <c:tx>
            <c:strRef>
              <c:f>Planilha1!$B$1</c:f>
              <c:strCache>
                <c:ptCount val="1"/>
                <c:pt idx="0">
                  <c:v>Vendas</c:v>
                </c:pt>
              </c:strCache>
            </c:strRef>
          </c:tx>
          <c:dPt>
            <c:idx val="0"/>
            <c:bubble3D val="0"/>
            <c:spPr>
              <a:solidFill>
                <a:srgbClr val="FFF2C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41D-4267-9962-6E3B8668F165}"/>
              </c:ext>
            </c:extLst>
          </c:dPt>
          <c:dPt>
            <c:idx val="1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241D-4267-9962-6E3B8668F16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A8F-4F58-9FDC-B93E9F8AEBE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A8F-4F58-9FDC-B93E9F8AEBE4}"/>
              </c:ext>
            </c:extLst>
          </c:dPt>
          <c:cat>
            <c:strRef>
              <c:f>Planilha1!$A$2:$A$5</c:f>
              <c:strCache>
                <c:ptCount val="2"/>
                <c:pt idx="0">
                  <c:v>1º Tri</c:v>
                </c:pt>
                <c:pt idx="1">
                  <c:v>2º Tri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30</c:v>
                </c:pt>
                <c:pt idx="1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1D-4267-9962-6E3B8668F1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242B7-6310-49A5-A1E4-FF28AA45C22A}" type="datetimeFigureOut">
              <a:rPr lang="pt-BR" smtClean="0"/>
              <a:t>18/05/2026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77C2CA-6D53-4DD0-B196-9F6DE4AF931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74054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67" tIns="49534" rIns="99067" bIns="49534" rtlCol="0"/>
          <a:lstStyle>
            <a:lvl1pPr algn="l">
              <a:defRPr sz="13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9067" tIns="49534" rIns="99067" bIns="49534" rtlCol="0"/>
          <a:lstStyle>
            <a:lvl1pPr algn="r">
              <a:defRPr sz="1300"/>
            </a:lvl1pPr>
          </a:lstStyle>
          <a:p>
            <a:fld id="{68F8108E-0767-497B-963F-0182AFCE1F9C}" type="datetimeFigureOut">
              <a:rPr lang="pt-BR" smtClean="0"/>
              <a:t>18/05/2026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7" tIns="49534" rIns="99067" bIns="49534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9067" tIns="49534" rIns="99067" bIns="49534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8"/>
            <a:ext cx="3078427" cy="513507"/>
          </a:xfrm>
          <a:prstGeom prst="rect">
            <a:avLst/>
          </a:prstGeom>
        </p:spPr>
        <p:txBody>
          <a:bodyPr vert="horz" lIns="99067" tIns="49534" rIns="99067" bIns="49534" rtlCol="0" anchor="b"/>
          <a:lstStyle>
            <a:lvl1pPr algn="l">
              <a:defRPr sz="13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3" y="9721108"/>
            <a:ext cx="3078427" cy="513507"/>
          </a:xfrm>
          <a:prstGeom prst="rect">
            <a:avLst/>
          </a:prstGeom>
        </p:spPr>
        <p:txBody>
          <a:bodyPr vert="horz" lIns="99067" tIns="49534" rIns="99067" bIns="49534" rtlCol="0" anchor="b"/>
          <a:lstStyle>
            <a:lvl1pPr algn="r">
              <a:defRPr sz="1300"/>
            </a:lvl1pPr>
          </a:lstStyle>
          <a:p>
            <a:fld id="{E06A3831-F0F2-4638-82E2-C13D508B097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0019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- Operador será orientado para verificar as Condições!</a:t>
            </a:r>
            <a:br>
              <a:rPr lang="pt-BR" dirty="0"/>
            </a:br>
            <a:r>
              <a:rPr lang="pt-BR" dirty="0"/>
              <a:t>- Exemplo: Frente adequadas para acesso, rachão, vergalhões.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6A3831-F0F2-4638-82E2-C13D508B097A}" type="slidenum">
              <a:rPr lang="pt-BR" smtClean="0"/>
              <a:t>22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7294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1C7F-4728-4C98-BA7E-7DA78CCEA6DA}" type="datetimeFigureOut">
              <a:rPr lang="pt-BR" smtClean="0"/>
              <a:t>18/05/2026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7BB32-78DA-41A7-AE90-4815F8860066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5902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1C7F-4728-4C98-BA7E-7DA78CCEA6DA}" type="datetimeFigureOut">
              <a:rPr lang="pt-BR" smtClean="0"/>
              <a:t>18/05/2026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7BB32-78DA-41A7-AE90-4815F8860066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80121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1C7F-4728-4C98-BA7E-7DA78CCEA6DA}" type="datetimeFigureOut">
              <a:rPr lang="pt-BR" smtClean="0"/>
              <a:t>18/05/2026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7BB32-78DA-41A7-AE90-4815F8860066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23321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1C7F-4728-4C98-BA7E-7DA78CCEA6DA}" type="datetimeFigureOut">
              <a:rPr lang="pt-BR" smtClean="0"/>
              <a:t>18/05/2026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7BB32-78DA-41A7-AE90-4815F8860066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1529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1C7F-4728-4C98-BA7E-7DA78CCEA6DA}" type="datetimeFigureOut">
              <a:rPr lang="pt-BR" smtClean="0"/>
              <a:t>18/05/2026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7BB32-78DA-41A7-AE90-4815F8860066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8923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1C7F-4728-4C98-BA7E-7DA78CCEA6DA}" type="datetimeFigureOut">
              <a:rPr lang="pt-BR" smtClean="0"/>
              <a:t>18/05/2026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7BB32-78DA-41A7-AE90-4815F8860066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4349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1C7F-4728-4C98-BA7E-7DA78CCEA6DA}" type="datetimeFigureOut">
              <a:rPr lang="pt-BR" smtClean="0"/>
              <a:t>18/05/2026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7BB32-78DA-41A7-AE90-4815F8860066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07224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1C7F-4728-4C98-BA7E-7DA78CCEA6DA}" type="datetimeFigureOut">
              <a:rPr lang="pt-BR" smtClean="0"/>
              <a:t>18/05/2026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7BB32-78DA-41A7-AE90-4815F8860066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0578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1C7F-4728-4C98-BA7E-7DA78CCEA6DA}" type="datetimeFigureOut">
              <a:rPr lang="pt-BR" smtClean="0"/>
              <a:t>18/05/2026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7BB32-78DA-41A7-AE90-4815F8860066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26719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1C7F-4728-4C98-BA7E-7DA78CCEA6DA}" type="datetimeFigureOut">
              <a:rPr lang="pt-BR" smtClean="0"/>
              <a:t>18/05/2026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7BB32-78DA-41A7-AE90-4815F8860066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78389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1C7F-4728-4C98-BA7E-7DA78CCEA6DA}" type="datetimeFigureOut">
              <a:rPr lang="pt-BR" smtClean="0"/>
              <a:t>18/05/2026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7BB32-78DA-41A7-AE90-4815F8860066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3573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alphaModFix amt="66000"/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41C7F-4728-4C98-BA7E-7DA78CCEA6DA}" type="datetimeFigureOut">
              <a:rPr lang="pt-BR" smtClean="0"/>
              <a:t>18/05/2026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77BB32-78DA-41A7-AE90-4815F8860066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079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microsoft.com/office/2007/relationships/media" Target="../media/media2.mp4"/><Relationship Id="rId7" Type="http://schemas.openxmlformats.org/officeDocument/2006/relationships/image" Target="../media/image21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0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43B9AC1-7D12-FE26-F79D-0666137528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7261" y="1115853"/>
            <a:ext cx="5437476" cy="268484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FA7D58FD-8021-544D-465C-ECD72F2B7A48}"/>
              </a:ext>
            </a:extLst>
          </p:cNvPr>
          <p:cNvSpPr txBox="1"/>
          <p:nvPr/>
        </p:nvSpPr>
        <p:spPr>
          <a:xfrm>
            <a:off x="1665684" y="4264819"/>
            <a:ext cx="886063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5400" b="1" dirty="0"/>
              <a:t>ALINHAMENTO</a:t>
            </a:r>
            <a:r>
              <a:rPr lang="pt-BR" sz="3600" b="1" dirty="0"/>
              <a:t> </a:t>
            </a:r>
            <a:r>
              <a:rPr lang="pt-BR" sz="5400" b="1" dirty="0"/>
              <a:t>OPERACIONAL</a:t>
            </a:r>
            <a:endParaRPr lang="pt-BR" sz="3600" b="1" dirty="0"/>
          </a:p>
          <a:p>
            <a:pPr algn="ctr"/>
            <a:r>
              <a:rPr lang="pt-BR" sz="3600" b="1" dirty="0"/>
              <a:t>DEPARTAMENTO DE FROTAS </a:t>
            </a:r>
          </a:p>
        </p:txBody>
      </p:sp>
    </p:spTree>
    <p:extLst>
      <p:ext uri="{BB962C8B-B14F-4D97-AF65-F5344CB8AC3E}">
        <p14:creationId xmlns:p14="http://schemas.microsoft.com/office/powerpoint/2010/main" val="3578271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04EC2-0951-A0D4-1DB6-722A54628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6833488-1A22-1CEA-2A92-C57186DE23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06" y="236954"/>
            <a:ext cx="1818445" cy="897886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9FC79728-4008-F530-D8DA-EBFCC1ABC7F4}"/>
              </a:ext>
            </a:extLst>
          </p:cNvPr>
          <p:cNvSpPr txBox="1"/>
          <p:nvPr/>
        </p:nvSpPr>
        <p:spPr>
          <a:xfrm>
            <a:off x="2302446" y="2567227"/>
            <a:ext cx="9472921" cy="334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pt-BR" sz="2400" i="0" dirty="0">
                <a:solidFill>
                  <a:srgbClr val="000000"/>
                </a:solidFill>
                <a:effectLst/>
                <a:latin typeface="ArialMT"/>
              </a:rPr>
              <a:t>Alinhar entre os setores de Frotas e Engenharia as diretrizes operacionais relacionadas à utilização dos equipamentos da empresa, ao desempenho da frota nas obras e à responsabilidade dos líderes das frentes de serviço, em conformidade com as orientações estabelecidas pela Diretoria, visando maior eficiência operacional,</a:t>
            </a:r>
            <a:r>
              <a:rPr lang="pt-BR" sz="2400" dirty="0">
                <a:solidFill>
                  <a:srgbClr val="000000"/>
                </a:solidFill>
                <a:latin typeface="ArialMT"/>
              </a:rPr>
              <a:t> </a:t>
            </a:r>
            <a:r>
              <a:rPr lang="pt-BR" sz="2400" i="0" dirty="0">
                <a:solidFill>
                  <a:srgbClr val="000000"/>
                </a:solidFill>
                <a:effectLst/>
                <a:latin typeface="ArialMT"/>
              </a:rPr>
              <a:t>controle dos ativos e melhoria dos resultados.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E2BC45B-81A2-1E16-76C3-0A0777D271F9}"/>
              </a:ext>
            </a:extLst>
          </p:cNvPr>
          <p:cNvSpPr txBox="1"/>
          <p:nvPr/>
        </p:nvSpPr>
        <p:spPr>
          <a:xfrm>
            <a:off x="2302445" y="1613117"/>
            <a:ext cx="947292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4400" b="1" dirty="0">
                <a:solidFill>
                  <a:srgbClr val="000000"/>
                </a:solidFill>
                <a:latin typeface="ArialMT"/>
              </a:rPr>
              <a:t>OBJETIVO</a:t>
            </a:r>
            <a:endParaRPr lang="pt-BR" sz="4400" b="1" i="0" dirty="0">
              <a:solidFill>
                <a:srgbClr val="000000"/>
              </a:solidFill>
              <a:effectLst/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24381753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EE339F1-7B20-1B60-6095-0123522921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06" y="236954"/>
            <a:ext cx="1818445" cy="89788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34F6F9C-7956-12DC-A8E1-99F8A010B11A}"/>
              </a:ext>
            </a:extLst>
          </p:cNvPr>
          <p:cNvSpPr txBox="1"/>
          <p:nvPr/>
        </p:nvSpPr>
        <p:spPr>
          <a:xfrm>
            <a:off x="2302445" y="1613117"/>
            <a:ext cx="9472921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4400" b="1" dirty="0"/>
              <a:t>PRODUTIVIDADE, </a:t>
            </a:r>
          </a:p>
          <a:p>
            <a:pPr algn="r"/>
            <a:r>
              <a:rPr lang="pt-BR" sz="4400" b="1" dirty="0"/>
              <a:t>IMPRODUTIVIDADE </a:t>
            </a:r>
          </a:p>
          <a:p>
            <a:pPr algn="r"/>
            <a:r>
              <a:rPr lang="pt-BR" sz="4400" b="1" dirty="0"/>
              <a:t>E OCIOSIDADE</a:t>
            </a:r>
          </a:p>
          <a:p>
            <a:pPr algn="just"/>
            <a:r>
              <a:rPr lang="pt-BR" sz="3600" b="1" dirty="0"/>
              <a:t>DOS EQUIPAMENTOS NAS FRENTES DE SERVIÇO</a:t>
            </a:r>
          </a:p>
          <a:p>
            <a:pPr algn="just"/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1382201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6B67D870-77DF-F68F-BCC3-7E9CCFFEA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06" y="236954"/>
            <a:ext cx="1818445" cy="897886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70784DAA-8A6B-C3CC-447D-CA3ACCA9C104}"/>
              </a:ext>
            </a:extLst>
          </p:cNvPr>
          <p:cNvSpPr txBox="1"/>
          <p:nvPr/>
        </p:nvSpPr>
        <p:spPr>
          <a:xfrm>
            <a:off x="2302445" y="2211375"/>
            <a:ext cx="9549036" cy="113184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buNone/>
              <a:defRPr sz="2400" i="0">
                <a:solidFill>
                  <a:srgbClr val="000000"/>
                </a:solidFill>
                <a:effectLst/>
                <a:latin typeface="ArialMT"/>
              </a:defRPr>
            </a:lvl1pPr>
          </a:lstStyle>
          <a:p>
            <a:r>
              <a:rPr lang="pt-BR" dirty="0"/>
              <a:t>Produtividade real, Ligado em utilização com uso do equipamento ligado com sistema hidráulico trabalhando.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C966FC5-8D06-C93A-2041-637297F2666A}"/>
              </a:ext>
            </a:extLst>
          </p:cNvPr>
          <p:cNvSpPr txBox="1"/>
          <p:nvPr/>
        </p:nvSpPr>
        <p:spPr>
          <a:xfrm>
            <a:off x="2302445" y="1613117"/>
            <a:ext cx="9472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just">
              <a:buNone/>
              <a:defRPr sz="4400" b="1">
                <a:solidFill>
                  <a:srgbClr val="000000"/>
                </a:solidFill>
                <a:latin typeface="ArialMT"/>
              </a:defRPr>
            </a:lvl1pPr>
          </a:lstStyle>
          <a:p>
            <a:r>
              <a:rPr lang="pt-BR" sz="3600" dirty="0"/>
              <a:t>PRODUTIVIDADE</a:t>
            </a:r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49A1008-5FE6-96C7-CF1F-C18E91A15DD4}"/>
              </a:ext>
            </a:extLst>
          </p:cNvPr>
          <p:cNvSpPr txBox="1"/>
          <p:nvPr/>
        </p:nvSpPr>
        <p:spPr>
          <a:xfrm>
            <a:off x="4832051" y="4572423"/>
            <a:ext cx="34668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600" b="1" dirty="0">
                <a:solidFill>
                  <a:schemeClr val="accent5">
                    <a:lumMod val="75000"/>
                  </a:schemeClr>
                </a:solidFill>
              </a:rPr>
              <a:t>META 70%</a:t>
            </a:r>
          </a:p>
        </p:txBody>
      </p:sp>
      <p:graphicFrame>
        <p:nvGraphicFramePr>
          <p:cNvPr id="18" name="Gráfico 17">
            <a:extLst>
              <a:ext uri="{FF2B5EF4-FFF2-40B4-BE49-F238E27FC236}">
                <a16:creationId xmlns:a16="http://schemas.microsoft.com/office/drawing/2014/main" id="{942B1A1F-3821-3630-9C0E-DAF486C50D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0924188"/>
              </p:ext>
            </p:extLst>
          </p:nvPr>
        </p:nvGraphicFramePr>
        <p:xfrm>
          <a:off x="8203285" y="3645730"/>
          <a:ext cx="2733796" cy="28074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33923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80A830A-5D8E-1B62-F70A-100169FC3CAB}"/>
              </a:ext>
            </a:extLst>
          </p:cNvPr>
          <p:cNvSpPr txBox="1"/>
          <p:nvPr/>
        </p:nvSpPr>
        <p:spPr>
          <a:xfrm>
            <a:off x="2302445" y="2259448"/>
            <a:ext cx="9549036" cy="265534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buNone/>
              <a:defRPr sz="2400" i="0">
                <a:solidFill>
                  <a:srgbClr val="000000"/>
                </a:solidFill>
                <a:effectLst/>
                <a:latin typeface="ArialMT"/>
              </a:defRPr>
            </a:lvl1pPr>
          </a:lstStyle>
          <a:p>
            <a:r>
              <a:rPr lang="pt-BR" b="1" dirty="0">
                <a:solidFill>
                  <a:srgbClr val="FF0000"/>
                </a:solidFill>
              </a:rPr>
              <a:t>Situação Crítica – Frota</a:t>
            </a:r>
            <a:endParaRPr lang="pt-BR" dirty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200" dirty="0"/>
              <a:t>Subutilização de equipamentos e Indisponibilidade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200" dirty="0"/>
              <a:t>Impacto na produtividade e no equilíbrio operacional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200" dirty="0"/>
              <a:t>Melhor distribuição, programação e gestão da manutenção </a:t>
            </a:r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7C7A92B-DBD9-A9E4-B27C-1D8E1BEBAE12}"/>
              </a:ext>
            </a:extLst>
          </p:cNvPr>
          <p:cNvSpPr txBox="1"/>
          <p:nvPr/>
        </p:nvSpPr>
        <p:spPr>
          <a:xfrm>
            <a:off x="2302445" y="1613117"/>
            <a:ext cx="9472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just">
              <a:buNone/>
              <a:defRPr sz="4400" b="1">
                <a:solidFill>
                  <a:srgbClr val="000000"/>
                </a:solidFill>
                <a:latin typeface="ArialMT"/>
              </a:defRPr>
            </a:lvl1pPr>
          </a:lstStyle>
          <a:p>
            <a:r>
              <a:rPr lang="pt-BR" sz="3600" dirty="0"/>
              <a:t>IMPRODUTIVIDADE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C82995C-2852-8183-A45D-4AC6D2226D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06" y="236954"/>
            <a:ext cx="1818445" cy="89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275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353E7B3-4B70-F98C-6713-68DE1867E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06" y="236954"/>
            <a:ext cx="1818445" cy="89788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4069E60-B0BC-7FA1-62FF-10469A2B9E8D}"/>
              </a:ext>
            </a:extLst>
          </p:cNvPr>
          <p:cNvSpPr txBox="1"/>
          <p:nvPr/>
        </p:nvSpPr>
        <p:spPr>
          <a:xfrm>
            <a:off x="2302445" y="1613117"/>
            <a:ext cx="9472921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b="1" dirty="0"/>
              <a:t>RELATÓRIO DE ATENDIMENTOS </a:t>
            </a:r>
          </a:p>
          <a:p>
            <a:r>
              <a:rPr lang="pt-BR" sz="3200" b="1" dirty="0"/>
              <a:t>DA MANUTENÇÃO ÀS OBRAS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7C2EED6-687C-2207-3F26-95D4ABC895DA}"/>
              </a:ext>
            </a:extLst>
          </p:cNvPr>
          <p:cNvSpPr txBox="1"/>
          <p:nvPr/>
        </p:nvSpPr>
        <p:spPr>
          <a:xfrm>
            <a:off x="2302444" y="3607594"/>
            <a:ext cx="9472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just">
              <a:buNone/>
              <a:defRPr sz="4400" b="1">
                <a:solidFill>
                  <a:srgbClr val="000000"/>
                </a:solidFill>
                <a:latin typeface="ArialMT"/>
              </a:defRPr>
            </a:lvl1pPr>
          </a:lstStyle>
          <a:p>
            <a:r>
              <a:rPr lang="pt-BR" sz="3600" dirty="0">
                <a:solidFill>
                  <a:srgbClr val="0070C0"/>
                </a:solidFill>
              </a:rPr>
              <a:t>INDICADORES </a:t>
            </a:r>
            <a:r>
              <a:rPr lang="pt-BR" sz="3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▲</a:t>
            </a:r>
            <a:r>
              <a:rPr lang="pt-BR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▼</a:t>
            </a:r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690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A9751C4-E9F9-AF01-F004-FF95163E57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06" y="236954"/>
            <a:ext cx="1818445" cy="897886"/>
          </a:xfrm>
          <a:prstGeom prst="rect">
            <a:avLst/>
          </a:prstGeom>
        </p:spPr>
      </p:pic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5F2D300C-09A5-011F-DBB4-B68CBCB4C4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987141"/>
              </p:ext>
            </p:extLst>
          </p:nvPr>
        </p:nvGraphicFramePr>
        <p:xfrm>
          <a:off x="404907" y="2152963"/>
          <a:ext cx="5452967" cy="255724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68312">
                  <a:extLst>
                    <a:ext uri="{9D8B030D-6E8A-4147-A177-3AD203B41FA5}">
                      <a16:colId xmlns:a16="http://schemas.microsoft.com/office/drawing/2014/main" val="869305361"/>
                    </a:ext>
                  </a:extLst>
                </a:gridCol>
                <a:gridCol w="2652303">
                  <a:extLst>
                    <a:ext uri="{9D8B030D-6E8A-4147-A177-3AD203B41FA5}">
                      <a16:colId xmlns:a16="http://schemas.microsoft.com/office/drawing/2014/main" val="3058058186"/>
                    </a:ext>
                  </a:extLst>
                </a:gridCol>
                <a:gridCol w="2332352">
                  <a:extLst>
                    <a:ext uri="{9D8B030D-6E8A-4147-A177-3AD203B41FA5}">
                      <a16:colId xmlns:a16="http://schemas.microsoft.com/office/drawing/2014/main" val="2046770045"/>
                    </a:ext>
                  </a:extLst>
                </a:gridCol>
              </a:tblGrid>
              <a:tr h="365321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TIPO DE SOCORRO</a:t>
                      </a:r>
                      <a:endParaRPr lang="pt-B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1766" marR="11766" marT="11766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QUANTIDADE</a:t>
                      </a:r>
                      <a:endParaRPr lang="pt-B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083913"/>
                  </a:ext>
                </a:extLst>
              </a:tr>
              <a:tr h="365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BORRACHARIA</a:t>
                      </a:r>
                      <a:endParaRPr lang="pt-B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47</a:t>
                      </a:r>
                      <a:endParaRPr lang="pt-B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208143"/>
                  </a:ext>
                </a:extLst>
              </a:tr>
              <a:tr h="365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ELÉTRICA</a:t>
                      </a:r>
                      <a:endParaRPr lang="pt-B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37</a:t>
                      </a:r>
                      <a:endParaRPr lang="pt-B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1376774"/>
                  </a:ext>
                </a:extLst>
              </a:tr>
              <a:tr h="365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FUNILARIA</a:t>
                      </a:r>
                      <a:endParaRPr lang="pt-B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pt-B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869203"/>
                  </a:ext>
                </a:extLst>
              </a:tr>
              <a:tr h="365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MECÂNICA</a:t>
                      </a:r>
                      <a:endParaRPr lang="pt-B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67</a:t>
                      </a:r>
                      <a:endParaRPr lang="pt-B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083999"/>
                  </a:ext>
                </a:extLst>
              </a:tr>
              <a:tr h="365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SOLDA</a:t>
                      </a:r>
                      <a:endParaRPr lang="pt-B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152776"/>
                  </a:ext>
                </a:extLst>
              </a:tr>
              <a:tr h="3653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TOTAL</a:t>
                      </a:r>
                      <a:endParaRPr lang="pt-B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154</a:t>
                      </a:r>
                      <a:endParaRPr lang="pt-B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998154"/>
                  </a:ext>
                </a:extLst>
              </a:tr>
            </a:tbl>
          </a:graphicData>
        </a:graphic>
      </p:graphicFrame>
      <p:pic>
        <p:nvPicPr>
          <p:cNvPr id="17" name="Imagem 16">
            <a:extLst>
              <a:ext uri="{FF2B5EF4-FFF2-40B4-BE49-F238E27FC236}">
                <a16:creationId xmlns:a16="http://schemas.microsoft.com/office/drawing/2014/main" id="{979E0539-D878-17B2-221A-557AF1EC10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62" t="11771" r="7127"/>
          <a:stretch>
            <a:fillRect/>
          </a:stretch>
        </p:blipFill>
        <p:spPr>
          <a:xfrm>
            <a:off x="6365081" y="2102957"/>
            <a:ext cx="5400675" cy="3036902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AF61F304-503B-53F4-0C44-7761C28A143D}"/>
              </a:ext>
            </a:extLst>
          </p:cNvPr>
          <p:cNvSpPr txBox="1"/>
          <p:nvPr/>
        </p:nvSpPr>
        <p:spPr>
          <a:xfrm>
            <a:off x="404906" y="1386900"/>
            <a:ext cx="10503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">
              <a:buNone/>
            </a:pPr>
            <a:r>
              <a:rPr lang="pt-BR" sz="3200" b="1" u="none" strike="noStrike" dirty="0">
                <a:effectLst/>
              </a:rPr>
              <a:t>SOCORROS ATENDIDOS EM CAMPO – JANEIRO 2026</a:t>
            </a:r>
            <a:endParaRPr lang="pt-BR" sz="32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DDEE1461-A6D2-B689-A87B-C812E9B464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077736"/>
              </p:ext>
            </p:extLst>
          </p:nvPr>
        </p:nvGraphicFramePr>
        <p:xfrm>
          <a:off x="404906" y="5371153"/>
          <a:ext cx="1136085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0425">
                  <a:extLst>
                    <a:ext uri="{9D8B030D-6E8A-4147-A177-3AD203B41FA5}">
                      <a16:colId xmlns:a16="http://schemas.microsoft.com/office/drawing/2014/main" val="612746187"/>
                    </a:ext>
                  </a:extLst>
                </a:gridCol>
                <a:gridCol w="5680425">
                  <a:extLst>
                    <a:ext uri="{9D8B030D-6E8A-4147-A177-3AD203B41FA5}">
                      <a16:colId xmlns:a16="http://schemas.microsoft.com/office/drawing/2014/main" val="18757789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ORDENS DE SERVIÇOS ABERTAS NA OFICINA</a:t>
                      </a:r>
                      <a:r>
                        <a:rPr lang="pt-BR" sz="2000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DE SERVIÇOS ATENDIDOS NO MÊS PELA MANUTENÇÃO - SOS + OS</a:t>
                      </a:r>
                      <a:r>
                        <a:rPr lang="pt-BR" sz="2000" dirty="0"/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74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233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387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0757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2230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7DC55-87FB-D600-4D68-5A532C748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6BE30C44-6D94-389E-0FA1-E9C35991D5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06" y="236954"/>
            <a:ext cx="1818445" cy="897886"/>
          </a:xfrm>
          <a:prstGeom prst="rect">
            <a:avLst/>
          </a:prstGeom>
        </p:spPr>
      </p:pic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FC2A8631-52E9-7965-3548-1CF7738480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552442"/>
              </p:ext>
            </p:extLst>
          </p:nvPr>
        </p:nvGraphicFramePr>
        <p:xfrm>
          <a:off x="404906" y="2321719"/>
          <a:ext cx="6053044" cy="238849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19848">
                  <a:extLst>
                    <a:ext uri="{9D8B030D-6E8A-4147-A177-3AD203B41FA5}">
                      <a16:colId xmlns:a16="http://schemas.microsoft.com/office/drawing/2014/main" val="869305361"/>
                    </a:ext>
                  </a:extLst>
                </a:gridCol>
                <a:gridCol w="2944178">
                  <a:extLst>
                    <a:ext uri="{9D8B030D-6E8A-4147-A177-3AD203B41FA5}">
                      <a16:colId xmlns:a16="http://schemas.microsoft.com/office/drawing/2014/main" val="3058058186"/>
                    </a:ext>
                  </a:extLst>
                </a:gridCol>
                <a:gridCol w="2589018">
                  <a:extLst>
                    <a:ext uri="{9D8B030D-6E8A-4147-A177-3AD203B41FA5}">
                      <a16:colId xmlns:a16="http://schemas.microsoft.com/office/drawing/2014/main" val="2046770045"/>
                    </a:ext>
                  </a:extLst>
                </a:gridCol>
              </a:tblGrid>
              <a:tr h="341213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TIPO DE SOCORRO</a:t>
                      </a:r>
                      <a:endParaRPr lang="pt-B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1766" marR="11766" marT="11766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QUANTIDADE</a:t>
                      </a:r>
                      <a:endParaRPr lang="pt-B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083913"/>
                  </a:ext>
                </a:extLst>
              </a:tr>
              <a:tr h="3412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BORRACHARIA</a:t>
                      </a:r>
                      <a:endParaRPr lang="pt-B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208143"/>
                  </a:ext>
                </a:extLst>
              </a:tr>
              <a:tr h="3412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ELÉTRICA</a:t>
                      </a:r>
                      <a:endParaRPr lang="pt-B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1376774"/>
                  </a:ext>
                </a:extLst>
              </a:tr>
              <a:tr h="3412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FUNILARIA</a:t>
                      </a:r>
                      <a:endParaRPr lang="pt-B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869203"/>
                  </a:ext>
                </a:extLst>
              </a:tr>
              <a:tr h="3412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MECÂNICA</a:t>
                      </a:r>
                      <a:endParaRPr lang="pt-B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083999"/>
                  </a:ext>
                </a:extLst>
              </a:tr>
              <a:tr h="3412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SOLDA</a:t>
                      </a:r>
                      <a:endParaRPr lang="pt-B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152776"/>
                  </a:ext>
                </a:extLst>
              </a:tr>
              <a:tr h="3412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TOTAL</a:t>
                      </a:r>
                      <a:endParaRPr lang="pt-B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89</a:t>
                      </a:r>
                      <a:endParaRPr lang="pt-B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998154"/>
                  </a:ext>
                </a:extLst>
              </a:tr>
            </a:tbl>
          </a:graphicData>
        </a:graphic>
      </p:graphicFrame>
      <p:sp>
        <p:nvSpPr>
          <p:cNvPr id="19" name="CaixaDeTexto 18">
            <a:extLst>
              <a:ext uri="{FF2B5EF4-FFF2-40B4-BE49-F238E27FC236}">
                <a16:creationId xmlns:a16="http://schemas.microsoft.com/office/drawing/2014/main" id="{0E63B229-B26A-C4DD-896E-C5E0394FEBB6}"/>
              </a:ext>
            </a:extLst>
          </p:cNvPr>
          <p:cNvSpPr txBox="1"/>
          <p:nvPr/>
        </p:nvSpPr>
        <p:spPr>
          <a:xfrm>
            <a:off x="404906" y="1386900"/>
            <a:ext cx="104893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">
              <a:buNone/>
            </a:pPr>
            <a:r>
              <a:rPr lang="pt-BR" sz="3200" b="1" u="none" strike="noStrike" dirty="0">
                <a:effectLst/>
              </a:rPr>
              <a:t>SOCORROS ATENDIDOS EM CAMPO - FEVEREIRO</a:t>
            </a:r>
            <a:endParaRPr lang="pt-BR" sz="32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8507174-03A6-F5F5-FB49-F55BFBD594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591" r="16204"/>
          <a:stretch>
            <a:fillRect/>
          </a:stretch>
        </p:blipFill>
        <p:spPr>
          <a:xfrm>
            <a:off x="7322248" y="2136861"/>
            <a:ext cx="4307777" cy="3138889"/>
          </a:xfrm>
          <a:prstGeom prst="rect">
            <a:avLst/>
          </a:prstGeom>
        </p:spPr>
      </p:pic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2468CADD-59CC-2ABE-4882-88B9F72BA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100284"/>
              </p:ext>
            </p:extLst>
          </p:nvPr>
        </p:nvGraphicFramePr>
        <p:xfrm>
          <a:off x="404906" y="5371153"/>
          <a:ext cx="1136085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0425">
                  <a:extLst>
                    <a:ext uri="{9D8B030D-6E8A-4147-A177-3AD203B41FA5}">
                      <a16:colId xmlns:a16="http://schemas.microsoft.com/office/drawing/2014/main" val="612746187"/>
                    </a:ext>
                  </a:extLst>
                </a:gridCol>
                <a:gridCol w="5680425">
                  <a:extLst>
                    <a:ext uri="{9D8B030D-6E8A-4147-A177-3AD203B41FA5}">
                      <a16:colId xmlns:a16="http://schemas.microsoft.com/office/drawing/2014/main" val="18757789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ORDENS DE SERVIÇOS ABERTAS NA OFICINA</a:t>
                      </a:r>
                      <a:r>
                        <a:rPr lang="pt-BR" sz="2000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DE SERVIÇOS ATENDIDOS NO MÊS PELA MANUTENÇÃO - SOS + OS</a:t>
                      </a:r>
                      <a:r>
                        <a:rPr lang="pt-BR" sz="2000" dirty="0"/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74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152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241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0757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3609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FF07E-3820-AA8E-3195-29A9DE946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E8DB8CFC-A559-4DC9-A7C6-F0B71A90D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06" y="236954"/>
            <a:ext cx="1818445" cy="897886"/>
          </a:xfrm>
          <a:prstGeom prst="rect">
            <a:avLst/>
          </a:prstGeom>
        </p:spPr>
      </p:pic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28966FE8-CF1A-9EA6-358E-FB26DB8F6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640380"/>
              </p:ext>
            </p:extLst>
          </p:nvPr>
        </p:nvGraphicFramePr>
        <p:xfrm>
          <a:off x="404907" y="2321719"/>
          <a:ext cx="6081619" cy="238849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2302">
                  <a:extLst>
                    <a:ext uri="{9D8B030D-6E8A-4147-A177-3AD203B41FA5}">
                      <a16:colId xmlns:a16="http://schemas.microsoft.com/office/drawing/2014/main" val="869305361"/>
                    </a:ext>
                  </a:extLst>
                </a:gridCol>
                <a:gridCol w="2958077">
                  <a:extLst>
                    <a:ext uri="{9D8B030D-6E8A-4147-A177-3AD203B41FA5}">
                      <a16:colId xmlns:a16="http://schemas.microsoft.com/office/drawing/2014/main" val="3058058186"/>
                    </a:ext>
                  </a:extLst>
                </a:gridCol>
                <a:gridCol w="2601240">
                  <a:extLst>
                    <a:ext uri="{9D8B030D-6E8A-4147-A177-3AD203B41FA5}">
                      <a16:colId xmlns:a16="http://schemas.microsoft.com/office/drawing/2014/main" val="2046770045"/>
                    </a:ext>
                  </a:extLst>
                </a:gridCol>
              </a:tblGrid>
              <a:tr h="341213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TIPO DE SOCORRO</a:t>
                      </a:r>
                      <a:endParaRPr lang="pt-B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1766" marR="11766" marT="11766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QUANTIDADE</a:t>
                      </a:r>
                      <a:endParaRPr lang="pt-B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083913"/>
                  </a:ext>
                </a:extLst>
              </a:tr>
              <a:tr h="3412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BORRACHARIA</a:t>
                      </a:r>
                      <a:endParaRPr lang="pt-B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208143"/>
                  </a:ext>
                </a:extLst>
              </a:tr>
              <a:tr h="3412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ELÉTRICA</a:t>
                      </a:r>
                      <a:endParaRPr lang="pt-B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1376774"/>
                  </a:ext>
                </a:extLst>
              </a:tr>
              <a:tr h="3412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FUNILARIA</a:t>
                      </a:r>
                      <a:endParaRPr lang="pt-B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869203"/>
                  </a:ext>
                </a:extLst>
              </a:tr>
              <a:tr h="3412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MECÂNICA</a:t>
                      </a:r>
                      <a:endParaRPr lang="pt-B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083999"/>
                  </a:ext>
                </a:extLst>
              </a:tr>
              <a:tr h="3412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SOLDA</a:t>
                      </a:r>
                      <a:endParaRPr lang="pt-B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152776"/>
                  </a:ext>
                </a:extLst>
              </a:tr>
              <a:tr h="3412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TOTAL</a:t>
                      </a:r>
                      <a:endParaRPr lang="pt-B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159</a:t>
                      </a:r>
                      <a:endParaRPr lang="pt-B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66" marR="11766" marT="11766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998154"/>
                  </a:ext>
                </a:extLst>
              </a:tr>
            </a:tbl>
          </a:graphicData>
        </a:graphic>
      </p:graphicFrame>
      <p:sp>
        <p:nvSpPr>
          <p:cNvPr id="19" name="CaixaDeTexto 18">
            <a:extLst>
              <a:ext uri="{FF2B5EF4-FFF2-40B4-BE49-F238E27FC236}">
                <a16:creationId xmlns:a16="http://schemas.microsoft.com/office/drawing/2014/main" id="{9F96128C-5E6F-08F6-01EE-1D9F5D4484D6}"/>
              </a:ext>
            </a:extLst>
          </p:cNvPr>
          <p:cNvSpPr txBox="1"/>
          <p:nvPr/>
        </p:nvSpPr>
        <p:spPr>
          <a:xfrm>
            <a:off x="404906" y="1386900"/>
            <a:ext cx="104893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">
              <a:buNone/>
            </a:pPr>
            <a:r>
              <a:rPr lang="pt-BR" sz="3200" b="1" u="none" strike="noStrike" dirty="0">
                <a:effectLst/>
              </a:rPr>
              <a:t>SOCORROS ATENDIDOS EM CAMPO – MARÇO 2026</a:t>
            </a:r>
            <a:endParaRPr lang="pt-BR" sz="32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6F9473D-CA7B-44EE-5CBF-135CEABF51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207" r="9939"/>
          <a:stretch>
            <a:fillRect/>
          </a:stretch>
        </p:blipFill>
        <p:spPr>
          <a:xfrm>
            <a:off x="6929437" y="2068956"/>
            <a:ext cx="4386264" cy="3302197"/>
          </a:xfrm>
          <a:prstGeom prst="rect">
            <a:avLst/>
          </a:prstGeom>
        </p:spPr>
      </p:pic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6A6DB588-28CD-2242-A3E6-430DE4916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416748"/>
              </p:ext>
            </p:extLst>
          </p:nvPr>
        </p:nvGraphicFramePr>
        <p:xfrm>
          <a:off x="404906" y="5371153"/>
          <a:ext cx="1136085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0425">
                  <a:extLst>
                    <a:ext uri="{9D8B030D-6E8A-4147-A177-3AD203B41FA5}">
                      <a16:colId xmlns:a16="http://schemas.microsoft.com/office/drawing/2014/main" val="612746187"/>
                    </a:ext>
                  </a:extLst>
                </a:gridCol>
                <a:gridCol w="5680425">
                  <a:extLst>
                    <a:ext uri="{9D8B030D-6E8A-4147-A177-3AD203B41FA5}">
                      <a16:colId xmlns:a16="http://schemas.microsoft.com/office/drawing/2014/main" val="18757789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ORDENS DE SERVIÇOS ABERTAS NA OFICINA</a:t>
                      </a:r>
                      <a:r>
                        <a:rPr lang="pt-BR" sz="2000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DE SERVIÇOS ATENDIDOS NO MÊS PELA MANUTENÇÃO - SOS + OS</a:t>
                      </a:r>
                      <a:r>
                        <a:rPr lang="pt-BR" sz="2000" dirty="0"/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74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203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362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0757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6837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712351A7-F0ED-B752-26DB-1F01C532D2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06" y="236954"/>
            <a:ext cx="1818445" cy="89788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367F634-2D90-C0B5-8E91-466D582D1FB3}"/>
              </a:ext>
            </a:extLst>
          </p:cNvPr>
          <p:cNvSpPr txBox="1"/>
          <p:nvPr/>
        </p:nvSpPr>
        <p:spPr>
          <a:xfrm>
            <a:off x="404906" y="1386900"/>
            <a:ext cx="10503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">
              <a:buNone/>
            </a:pPr>
            <a:r>
              <a:rPr lang="pt-BR" sz="3200" b="1" dirty="0"/>
              <a:t>OBRAS COM MAIOR NÚMERO DE ATENDIMENTOS</a:t>
            </a:r>
            <a:endParaRPr lang="pt-BR" sz="48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4055AD-08EC-0541-A2A4-C3C8179AEC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20"/>
          <a:stretch>
            <a:fillRect/>
          </a:stretch>
        </p:blipFill>
        <p:spPr>
          <a:xfrm>
            <a:off x="0" y="2110812"/>
            <a:ext cx="12192000" cy="395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599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4607F-BCE8-CE70-E534-A46A9C3D8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8880F03-398E-D778-F14E-A31631E45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06" y="236954"/>
            <a:ext cx="1818445" cy="897886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7F356DC-A4D6-F1CE-DC8A-59917EF24B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89"/>
          <a:stretch>
            <a:fillRect/>
          </a:stretch>
        </p:blipFill>
        <p:spPr>
          <a:xfrm>
            <a:off x="0" y="2124148"/>
            <a:ext cx="12204840" cy="391946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E02E823-1FC3-8153-3DB8-AF9AA28AA21B}"/>
              </a:ext>
            </a:extLst>
          </p:cNvPr>
          <p:cNvSpPr txBox="1"/>
          <p:nvPr/>
        </p:nvSpPr>
        <p:spPr>
          <a:xfrm>
            <a:off x="404906" y="1386900"/>
            <a:ext cx="10503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">
              <a:buNone/>
            </a:pPr>
            <a:r>
              <a:rPr lang="pt-BR" sz="3200" b="1" dirty="0"/>
              <a:t>OBRAS COM MAIOR NÚMERO DE ATENDIMENTOS</a:t>
            </a:r>
            <a:endParaRPr lang="pt-BR" sz="48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770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099BB-795B-A346-D292-4232C692A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95C86C1-850C-B655-CFA9-59DE313B8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06" y="236954"/>
            <a:ext cx="1818445" cy="89788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92F3D58-EBD6-9B47-C449-2D1CB23C1D2E}"/>
              </a:ext>
            </a:extLst>
          </p:cNvPr>
          <p:cNvSpPr txBox="1"/>
          <p:nvPr/>
        </p:nvSpPr>
        <p:spPr>
          <a:xfrm>
            <a:off x="404906" y="1386900"/>
            <a:ext cx="10503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">
              <a:buNone/>
            </a:pPr>
            <a:r>
              <a:rPr lang="pt-BR" sz="3200" b="1" dirty="0"/>
              <a:t>OBRAS COM MAIOR NÚMERO DE ATENDIMENTOS</a:t>
            </a:r>
            <a:endParaRPr lang="pt-BR" sz="48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8FFAC15-DB05-22D9-A060-C753A3708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51319"/>
            <a:ext cx="12192000" cy="409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55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BFA2F-CFCC-FD95-A06B-8E848914D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3B61DDC-60CF-AFC9-145B-213D9DE5F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06" y="236954"/>
            <a:ext cx="1818445" cy="89788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2D276A9-EACB-9ACB-9181-9BBE78D10C8F}"/>
              </a:ext>
            </a:extLst>
          </p:cNvPr>
          <p:cNvSpPr txBox="1"/>
          <p:nvPr/>
        </p:nvSpPr>
        <p:spPr>
          <a:xfrm>
            <a:off x="404906" y="1386900"/>
            <a:ext cx="10503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">
              <a:buNone/>
            </a:pPr>
            <a:r>
              <a:rPr lang="pt-BR" sz="3200" b="1" dirty="0"/>
              <a:t>TOP 10 EQUIPAMENTOS</a:t>
            </a:r>
            <a:endParaRPr lang="pt-BR" sz="48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8B487AE-3651-E3B8-6ECB-FDF5D98DD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90478"/>
            <a:ext cx="12192000" cy="333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8659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5DBC3-96A1-AB87-4280-7CEDD2DB4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FCEA1ED-6B4E-EBB4-1453-2699B9F9B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06" y="236954"/>
            <a:ext cx="1818445" cy="89788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1283E90-65EB-03EB-9431-90B7C5A7E701}"/>
              </a:ext>
            </a:extLst>
          </p:cNvPr>
          <p:cNvSpPr txBox="1"/>
          <p:nvPr/>
        </p:nvSpPr>
        <p:spPr>
          <a:xfrm>
            <a:off x="404906" y="1386900"/>
            <a:ext cx="10503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">
              <a:buNone/>
            </a:pPr>
            <a:r>
              <a:rPr lang="pt-BR" sz="3200" b="1" dirty="0"/>
              <a:t>TOP 10 EQUIPAMENTOS</a:t>
            </a:r>
            <a:endParaRPr lang="pt-BR" sz="48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E7714E1-CDB5-3A8A-0BA2-F85D879C4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18681"/>
            <a:ext cx="12192000" cy="329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934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312B1-9A50-71C5-6FE0-C3F252BE8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7478DA36-B6F6-E71D-E1C9-C9BB0B21DF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06" y="236954"/>
            <a:ext cx="1818445" cy="89788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6065497-B8D6-24BC-F4D7-F4E59775599C}"/>
              </a:ext>
            </a:extLst>
          </p:cNvPr>
          <p:cNvSpPr txBox="1"/>
          <p:nvPr/>
        </p:nvSpPr>
        <p:spPr>
          <a:xfrm>
            <a:off x="404906" y="1386900"/>
            <a:ext cx="10503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">
              <a:buNone/>
            </a:pPr>
            <a:r>
              <a:rPr lang="pt-BR" sz="3200" b="1" dirty="0"/>
              <a:t>TOP 10 EQUIPAMENTOS</a:t>
            </a:r>
            <a:endParaRPr lang="pt-BR" sz="48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D2BFABA-6981-6F39-5AE9-F7EDC525C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33785"/>
            <a:ext cx="12192000" cy="346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8030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C136B0C-ABC6-5A20-8817-C92307458A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5" r="26231" b="15260"/>
          <a:stretch>
            <a:fillRect/>
          </a:stretch>
        </p:blipFill>
        <p:spPr>
          <a:xfrm>
            <a:off x="2451140" y="350044"/>
            <a:ext cx="9740860" cy="592999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05C1F45B-4E39-06C5-BA60-7FFCC5884A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06" y="236954"/>
            <a:ext cx="1818445" cy="89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0827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56762D42-2144-A019-FAC2-B8DB994177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444257"/>
              </p:ext>
            </p:extLst>
          </p:nvPr>
        </p:nvGraphicFramePr>
        <p:xfrm>
          <a:off x="564358" y="3358006"/>
          <a:ext cx="11015663" cy="19640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93381">
                  <a:extLst>
                    <a:ext uri="{9D8B030D-6E8A-4147-A177-3AD203B41FA5}">
                      <a16:colId xmlns:a16="http://schemas.microsoft.com/office/drawing/2014/main" val="3052379399"/>
                    </a:ext>
                  </a:extLst>
                </a:gridCol>
                <a:gridCol w="1926432">
                  <a:extLst>
                    <a:ext uri="{9D8B030D-6E8A-4147-A177-3AD203B41FA5}">
                      <a16:colId xmlns:a16="http://schemas.microsoft.com/office/drawing/2014/main" val="192706542"/>
                    </a:ext>
                  </a:extLst>
                </a:gridCol>
                <a:gridCol w="4895850">
                  <a:extLst>
                    <a:ext uri="{9D8B030D-6E8A-4147-A177-3AD203B41FA5}">
                      <a16:colId xmlns:a16="http://schemas.microsoft.com/office/drawing/2014/main" val="1033040150"/>
                    </a:ext>
                  </a:extLst>
                </a:gridCol>
              </a:tblGrid>
              <a:tr h="4910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900430" algn="l"/>
                        </a:tabLst>
                      </a:pPr>
                      <a:r>
                        <a:rPr lang="pt-BR" sz="2400" kern="100" dirty="0">
                          <a:effectLst/>
                        </a:rPr>
                        <a:t>Nº de Atendimentos</a:t>
                      </a:r>
                      <a:endParaRPr lang="pt-BR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900430" algn="l"/>
                        </a:tabLst>
                      </a:pPr>
                      <a:r>
                        <a:rPr lang="pt-BR" sz="2400" kern="100" dirty="0">
                          <a:effectLst/>
                        </a:rPr>
                        <a:t>Mês</a:t>
                      </a:r>
                      <a:endParaRPr lang="pt-BR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900430" algn="l"/>
                        </a:tabLst>
                      </a:pPr>
                      <a:r>
                        <a:rPr lang="pt-BR" sz="2400" kern="100">
                          <a:effectLst/>
                        </a:rPr>
                        <a:t>Total de KM Percorrido</a:t>
                      </a:r>
                      <a:endParaRPr lang="pt-BR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7676104"/>
                  </a:ext>
                </a:extLst>
              </a:tr>
              <a:tr h="4910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900430" algn="l"/>
                        </a:tabLst>
                      </a:pPr>
                      <a:r>
                        <a:rPr lang="pt-BR" sz="2400" kern="100" dirty="0">
                          <a:effectLst/>
                        </a:rPr>
                        <a:t>387</a:t>
                      </a:r>
                      <a:endParaRPr lang="pt-BR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900430" algn="l"/>
                        </a:tabLst>
                      </a:pPr>
                      <a:r>
                        <a:rPr lang="pt-BR" sz="2400" kern="100">
                          <a:effectLst/>
                        </a:rPr>
                        <a:t>Janeiro</a:t>
                      </a:r>
                      <a:endParaRPr lang="pt-BR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900430" algn="l"/>
                        </a:tabLst>
                      </a:pPr>
                      <a:r>
                        <a:rPr lang="pt-BR" sz="2400" kern="100" dirty="0">
                          <a:effectLst/>
                        </a:rPr>
                        <a:t>10.639</a:t>
                      </a:r>
                      <a:endParaRPr lang="pt-BR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24580890"/>
                  </a:ext>
                </a:extLst>
              </a:tr>
              <a:tr h="4910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900430" algn="l"/>
                        </a:tabLst>
                      </a:pPr>
                      <a:r>
                        <a:rPr lang="pt-BR" sz="2400" kern="100" dirty="0">
                          <a:effectLst/>
                        </a:rPr>
                        <a:t>241</a:t>
                      </a:r>
                      <a:endParaRPr lang="pt-BR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900430" algn="l"/>
                        </a:tabLst>
                      </a:pPr>
                      <a:r>
                        <a:rPr lang="pt-BR" sz="2400" kern="100">
                          <a:effectLst/>
                        </a:rPr>
                        <a:t>Fevereiro</a:t>
                      </a:r>
                      <a:endParaRPr lang="pt-BR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900430" algn="l"/>
                        </a:tabLst>
                      </a:pPr>
                      <a:r>
                        <a:rPr lang="pt-BR" sz="2400" kern="100" dirty="0">
                          <a:effectLst/>
                        </a:rPr>
                        <a:t>10.757</a:t>
                      </a:r>
                      <a:endParaRPr lang="pt-BR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93476"/>
                  </a:ext>
                </a:extLst>
              </a:tr>
              <a:tr h="4910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900430" algn="l"/>
                        </a:tabLst>
                      </a:pPr>
                      <a:r>
                        <a:rPr lang="pt-BR" sz="2400" kern="100" dirty="0">
                          <a:effectLst/>
                        </a:rPr>
                        <a:t>362</a:t>
                      </a:r>
                      <a:endParaRPr lang="pt-BR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900430" algn="l"/>
                        </a:tabLst>
                      </a:pPr>
                      <a:r>
                        <a:rPr lang="pt-BR" sz="2400" kern="100" dirty="0">
                          <a:effectLst/>
                        </a:rPr>
                        <a:t>Março</a:t>
                      </a:r>
                      <a:endParaRPr lang="pt-BR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900430" algn="l"/>
                        </a:tabLst>
                      </a:pPr>
                      <a:r>
                        <a:rPr lang="pt-BR" sz="2400" kern="100" dirty="0">
                          <a:effectLst/>
                        </a:rPr>
                        <a:t>13.365</a:t>
                      </a:r>
                      <a:endParaRPr lang="pt-BR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352721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3431F27C-1857-6B1E-E637-EDB89352F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79" y="2216957"/>
            <a:ext cx="11382377" cy="958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9001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9001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9001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9001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9001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9001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9001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9001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9001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900113" algn="l"/>
              </a:tabLst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Equipe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: (4 Mecânicos, 2 Eletricistas, 2 Borracheiros, 1 Soldador, 1 Funileiro e 3 Ajudantes)	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900113" algn="l"/>
              </a:tabLst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Frota de Socorro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: 6 Veículos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C4A8A46-0DB0-6CBB-CC42-AA9129E007D7}"/>
              </a:ext>
            </a:extLst>
          </p:cNvPr>
          <p:cNvSpPr txBox="1"/>
          <p:nvPr/>
        </p:nvSpPr>
        <p:spPr>
          <a:xfrm>
            <a:off x="564358" y="1603121"/>
            <a:ext cx="9472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just">
              <a:buNone/>
              <a:defRPr sz="4400" b="1">
                <a:solidFill>
                  <a:srgbClr val="000000"/>
                </a:solidFill>
                <a:latin typeface="ArialMT"/>
              </a:defRPr>
            </a:lvl1pPr>
          </a:lstStyle>
          <a:p>
            <a:r>
              <a:rPr lang="pt-BR" altLang="pt-BR" sz="36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TABELA DE ATENDIMENTOS </a:t>
            </a:r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2CD0A20-276F-F487-A31A-68B4ACCC2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06" y="236954"/>
            <a:ext cx="1818445" cy="89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984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1AFC35CC-8017-1492-341F-0AC9D0B76CAE}"/>
              </a:ext>
            </a:extLst>
          </p:cNvPr>
          <p:cNvSpPr txBox="1"/>
          <p:nvPr/>
        </p:nvSpPr>
        <p:spPr>
          <a:xfrm>
            <a:off x="2302445" y="1613117"/>
            <a:ext cx="9472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just">
              <a:buNone/>
              <a:defRPr sz="4400" b="1">
                <a:solidFill>
                  <a:srgbClr val="000000"/>
                </a:solidFill>
                <a:latin typeface="ArialMT"/>
              </a:defRPr>
            </a:lvl1pPr>
          </a:lstStyle>
          <a:p>
            <a:r>
              <a:rPr lang="pt-BR" sz="3600" dirty="0"/>
              <a:t>OCIOSIDADE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53B344F-42AC-0631-0819-D193A5513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06" y="236954"/>
            <a:ext cx="1818445" cy="89788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8F8A64C-4FA1-C62D-2CEB-068476C82040}"/>
              </a:ext>
            </a:extLst>
          </p:cNvPr>
          <p:cNvSpPr txBox="1"/>
          <p:nvPr/>
        </p:nvSpPr>
        <p:spPr>
          <a:xfrm>
            <a:off x="2302445" y="2259448"/>
            <a:ext cx="9549036" cy="265534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buNone/>
              <a:defRPr sz="2400" i="0">
                <a:solidFill>
                  <a:srgbClr val="000000"/>
                </a:solidFill>
                <a:effectLst/>
                <a:latin typeface="ArialMT"/>
              </a:defRPr>
            </a:lvl1pPr>
          </a:lstStyle>
          <a:p>
            <a:r>
              <a:rPr lang="pt-BR" b="1" dirty="0">
                <a:solidFill>
                  <a:srgbClr val="FF0000"/>
                </a:solidFill>
              </a:rPr>
              <a:t>Situação Crítica – Motor Ligado </a:t>
            </a:r>
            <a:endParaRPr lang="pt-BR" dirty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200" dirty="0"/>
              <a:t>Equipamento Ligado sem movimento ou Locomoção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200" dirty="0"/>
              <a:t>Equipamento Ligado em espera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200" dirty="0"/>
              <a:t>Desvio de operação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6325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BFC23-5D16-D27E-9147-D33DA80B6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C6B0554-222B-F9B1-8CCA-DC467DC772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06" y="236954"/>
            <a:ext cx="1818445" cy="89788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5E965FB9-1180-6442-9057-498D5E79C0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1771" b="52708"/>
          <a:stretch>
            <a:fillRect/>
          </a:stretch>
        </p:blipFill>
        <p:spPr>
          <a:xfrm>
            <a:off x="0" y="1897884"/>
            <a:ext cx="12085847" cy="50241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6F794BC-582F-9B24-1EA9-76D9F2EE47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1359" b="3120"/>
          <a:stretch>
            <a:fillRect/>
          </a:stretch>
        </p:blipFill>
        <p:spPr>
          <a:xfrm>
            <a:off x="0" y="3986216"/>
            <a:ext cx="12085847" cy="502413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0E495D8-06F7-2528-33CA-C0D7A5B80098}"/>
              </a:ext>
            </a:extLst>
          </p:cNvPr>
          <p:cNvSpPr/>
          <p:nvPr/>
        </p:nvSpPr>
        <p:spPr>
          <a:xfrm>
            <a:off x="7358063" y="1663315"/>
            <a:ext cx="1557337" cy="97155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75834156-B907-3181-8537-C125BAB8561C}"/>
              </a:ext>
            </a:extLst>
          </p:cNvPr>
          <p:cNvCxnSpPr>
            <a:stCxn id="7" idx="2"/>
          </p:cNvCxnSpPr>
          <p:nvPr/>
        </p:nvCxnSpPr>
        <p:spPr>
          <a:xfrm flipH="1">
            <a:off x="8136731" y="2634865"/>
            <a:ext cx="1" cy="4512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7C34B19-B36A-4D4E-EB4E-3BFC0E84B355}"/>
              </a:ext>
            </a:extLst>
          </p:cNvPr>
          <p:cNvSpPr txBox="1"/>
          <p:nvPr/>
        </p:nvSpPr>
        <p:spPr>
          <a:xfrm>
            <a:off x="6743700" y="3059668"/>
            <a:ext cx="2807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IMPRODUTIVIDADE 35%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C80D019-997F-10B1-1562-97CB790F0B94}"/>
              </a:ext>
            </a:extLst>
          </p:cNvPr>
          <p:cNvSpPr/>
          <p:nvPr/>
        </p:nvSpPr>
        <p:spPr>
          <a:xfrm>
            <a:off x="7358063" y="3745471"/>
            <a:ext cx="3421856" cy="971550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EADAC61-C407-AA8A-E7F4-13F302F51301}"/>
              </a:ext>
            </a:extLst>
          </p:cNvPr>
          <p:cNvSpPr txBox="1"/>
          <p:nvPr/>
        </p:nvSpPr>
        <p:spPr>
          <a:xfrm>
            <a:off x="7797403" y="5203871"/>
            <a:ext cx="256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accent1">
                    <a:lumMod val="50000"/>
                  </a:schemeClr>
                </a:solidFill>
              </a:rPr>
              <a:t>ACIMA DA META DE 70%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43F951E0-5946-76F8-5943-9E5DB1DB30CE}"/>
              </a:ext>
            </a:extLst>
          </p:cNvPr>
          <p:cNvCxnSpPr>
            <a:stCxn id="16" idx="2"/>
          </p:cNvCxnSpPr>
          <p:nvPr/>
        </p:nvCxnSpPr>
        <p:spPr>
          <a:xfrm>
            <a:off x="9068991" y="4717021"/>
            <a:ext cx="10715" cy="3725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541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A4A89F54-C2C6-EBC9-4D5A-64B699E47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06" y="236954"/>
            <a:ext cx="1818445" cy="89788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D13AC281-C958-4B5F-4CBC-824F7C9BC9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2"/>
          <a:stretch>
            <a:fillRect/>
          </a:stretch>
        </p:blipFill>
        <p:spPr>
          <a:xfrm>
            <a:off x="2457333" y="71438"/>
            <a:ext cx="9734797" cy="678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313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118B24FB-2FD6-4A7A-DCE6-7BB535D7DF6A}"/>
              </a:ext>
            </a:extLst>
          </p:cNvPr>
          <p:cNvSpPr txBox="1"/>
          <p:nvPr/>
        </p:nvSpPr>
        <p:spPr>
          <a:xfrm>
            <a:off x="564357" y="2372562"/>
            <a:ext cx="11129962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buNone/>
              <a:defRPr sz="2400" i="0">
                <a:solidFill>
                  <a:srgbClr val="000000"/>
                </a:solidFill>
                <a:effectLst/>
                <a:latin typeface="ArialMT"/>
              </a:defRPr>
            </a:lvl1pPr>
          </a:lstStyle>
          <a:p>
            <a:r>
              <a:rPr lang="pt-BR" dirty="0"/>
              <a:t>Tempo ocioso e ligado sem utilização (Avaliação de 15 Equipamentos)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F8F87E1-5B4F-3A4D-898A-92411BB734BB}"/>
              </a:ext>
            </a:extLst>
          </p:cNvPr>
          <p:cNvSpPr txBox="1"/>
          <p:nvPr/>
        </p:nvSpPr>
        <p:spPr>
          <a:xfrm>
            <a:off x="564358" y="1603121"/>
            <a:ext cx="9472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just">
              <a:buNone/>
              <a:defRPr sz="4400" b="1">
                <a:solidFill>
                  <a:srgbClr val="000000"/>
                </a:solidFill>
                <a:latin typeface="ArialMT"/>
              </a:defRPr>
            </a:lvl1pPr>
          </a:lstStyle>
          <a:p>
            <a:r>
              <a:rPr lang="pt-BR" sz="3600" dirty="0"/>
              <a:t>OCIOSIDADE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218AF7A-9DAE-4A0B-C835-E34830EDC4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06" y="236954"/>
            <a:ext cx="1818445" cy="897886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7032BA55-01FA-5996-219C-B98C3BA4C342}"/>
              </a:ext>
            </a:extLst>
          </p:cNvPr>
          <p:cNvSpPr txBox="1"/>
          <p:nvPr/>
        </p:nvSpPr>
        <p:spPr>
          <a:xfrm>
            <a:off x="564357" y="3073522"/>
            <a:ext cx="10426372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buNone/>
              <a:defRPr sz="2400" i="0">
                <a:solidFill>
                  <a:srgbClr val="000000"/>
                </a:solidFill>
                <a:effectLst/>
                <a:latin typeface="ArialMT"/>
              </a:defRPr>
            </a:lvl1pPr>
          </a:lstStyle>
          <a:p>
            <a:r>
              <a:rPr lang="pt-BR" b="1" i="1" dirty="0">
                <a:solidFill>
                  <a:srgbClr val="FF0000"/>
                </a:solidFill>
              </a:rPr>
              <a:t>Reflexo do custo de ociosidade – Período Janeiro – Março 2026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F4F753C4-992E-6036-9560-C16FA9BA2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471171"/>
              </p:ext>
            </p:extLst>
          </p:nvPr>
        </p:nvGraphicFramePr>
        <p:xfrm>
          <a:off x="564357" y="3784478"/>
          <a:ext cx="11394279" cy="2273422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107405">
                  <a:extLst>
                    <a:ext uri="{9D8B030D-6E8A-4147-A177-3AD203B41FA5}">
                      <a16:colId xmlns:a16="http://schemas.microsoft.com/office/drawing/2014/main" val="2539894749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466242515"/>
                    </a:ext>
                  </a:extLst>
                </a:gridCol>
                <a:gridCol w="1785937">
                  <a:extLst>
                    <a:ext uri="{9D8B030D-6E8A-4147-A177-3AD203B41FA5}">
                      <a16:colId xmlns:a16="http://schemas.microsoft.com/office/drawing/2014/main" val="748116636"/>
                    </a:ext>
                  </a:extLst>
                </a:gridCol>
                <a:gridCol w="1793082">
                  <a:extLst>
                    <a:ext uri="{9D8B030D-6E8A-4147-A177-3AD203B41FA5}">
                      <a16:colId xmlns:a16="http://schemas.microsoft.com/office/drawing/2014/main" val="246610982"/>
                    </a:ext>
                  </a:extLst>
                </a:gridCol>
                <a:gridCol w="1264443">
                  <a:extLst>
                    <a:ext uri="{9D8B030D-6E8A-4147-A177-3AD203B41FA5}">
                      <a16:colId xmlns:a16="http://schemas.microsoft.com/office/drawing/2014/main" val="1495742727"/>
                    </a:ext>
                  </a:extLst>
                </a:gridCol>
                <a:gridCol w="2928937">
                  <a:extLst>
                    <a:ext uri="{9D8B030D-6E8A-4147-A177-3AD203B41FA5}">
                      <a16:colId xmlns:a16="http://schemas.microsoft.com/office/drawing/2014/main" val="1372416662"/>
                    </a:ext>
                  </a:extLst>
                </a:gridCol>
              </a:tblGrid>
              <a:tr h="7287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b="1" u="none" strike="noStrike" dirty="0">
                          <a:effectLst/>
                        </a:rPr>
                        <a:t>TIPO DE EQUIPAMENTO</a:t>
                      </a:r>
                      <a:endParaRPr lang="pt-B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b="1" u="none" strike="noStrike" dirty="0">
                          <a:effectLst/>
                        </a:rPr>
                        <a:t>HORAS OCIOSAS</a:t>
                      </a:r>
                      <a:endParaRPr lang="pt-BR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b="1" u="none" strike="noStrike" dirty="0">
                          <a:effectLst/>
                        </a:rPr>
                        <a:t>MÉDIA DE CONSUMO</a:t>
                      </a:r>
                      <a:endParaRPr lang="pt-B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b="1" u="none" strike="noStrike" dirty="0">
                          <a:effectLst/>
                        </a:rPr>
                        <a:t>LITROS EM OCIOSIDADE</a:t>
                      </a:r>
                      <a:endParaRPr lang="pt-BR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b="1" u="none" strike="noStrike" dirty="0">
                          <a:effectLst/>
                        </a:rPr>
                        <a:t>VALOR LITRO</a:t>
                      </a:r>
                      <a:endParaRPr lang="pt-B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b="1" u="none" strike="noStrike" dirty="0">
                          <a:effectLst/>
                        </a:rPr>
                        <a:t>CUSTO TOTAL</a:t>
                      </a:r>
                      <a:endParaRPr lang="pt-BR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996154"/>
                  </a:ext>
                </a:extLst>
              </a:tr>
              <a:tr h="3681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u="none" strike="noStrike" dirty="0">
                          <a:effectLst/>
                        </a:rPr>
                        <a:t>ESCAVADEIRA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u="none" strike="noStrike" dirty="0">
                          <a:effectLst/>
                        </a:rPr>
                        <a:t>129,98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u="none" strike="noStrike" dirty="0">
                          <a:effectLst/>
                        </a:rPr>
                        <a:t>12,30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u="none" strike="noStrike">
                          <a:effectLst/>
                        </a:rPr>
                        <a:t>1.598,72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u="none" strike="noStrike">
                          <a:effectLst/>
                        </a:rPr>
                        <a:t> R$     6,35 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u="none" strike="noStrike" dirty="0">
                          <a:effectLst/>
                        </a:rPr>
                        <a:t> R$      10.151,87 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59358719"/>
                  </a:ext>
                </a:extLst>
              </a:tr>
              <a:tr h="3681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u="none" strike="noStrike">
                          <a:effectLst/>
                        </a:rPr>
                        <a:t>RETRO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u="none" strike="noStrike">
                          <a:effectLst/>
                        </a:rPr>
                        <a:t>1.818,98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u="none" strike="noStrike" dirty="0">
                          <a:effectLst/>
                        </a:rPr>
                        <a:t>4,20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u="none" strike="noStrike" dirty="0">
                          <a:effectLst/>
                        </a:rPr>
                        <a:t>7.639,72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u="none" strike="noStrike">
                          <a:effectLst/>
                        </a:rPr>
                        <a:t> R$      48.512,23 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84398509"/>
                  </a:ext>
                </a:extLst>
              </a:tr>
              <a:tr h="3681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u="none" strike="noStrike">
                          <a:effectLst/>
                        </a:rPr>
                        <a:t>TRATOR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u="none" strike="noStrike">
                          <a:effectLst/>
                        </a:rPr>
                        <a:t>58,54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u="none" strike="noStrike">
                          <a:effectLst/>
                        </a:rPr>
                        <a:t>14,50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u="none" strike="noStrike" dirty="0">
                          <a:effectLst/>
                        </a:rPr>
                        <a:t>848,86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u="none" strike="noStrike">
                          <a:effectLst/>
                        </a:rPr>
                        <a:t> R$        5.390,29 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35991473"/>
                  </a:ext>
                </a:extLst>
              </a:tr>
              <a:tr h="4402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TOTAL</a:t>
                      </a:r>
                      <a:endParaRPr lang="pt-BR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4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2.007,50</a:t>
                      </a:r>
                      <a:endParaRPr lang="pt-BR" sz="24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-</a:t>
                      </a:r>
                      <a:endParaRPr lang="pt-BR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4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10.087,30</a:t>
                      </a:r>
                      <a:endParaRPr lang="pt-BR" sz="24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-</a:t>
                      </a:r>
                      <a:endParaRPr lang="pt-BR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R$   64.054,39 </a:t>
                      </a:r>
                      <a:endParaRPr lang="pt-BR" sz="2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8895612"/>
                  </a:ext>
                </a:extLst>
              </a:tr>
            </a:tbl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06150884-938E-C8B7-F13E-F422A678FC3E}"/>
              </a:ext>
            </a:extLst>
          </p:cNvPr>
          <p:cNvSpPr txBox="1"/>
          <p:nvPr/>
        </p:nvSpPr>
        <p:spPr>
          <a:xfrm>
            <a:off x="1532264" y="6057900"/>
            <a:ext cx="10426372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buNone/>
              <a:defRPr sz="2400" i="0">
                <a:solidFill>
                  <a:srgbClr val="000000"/>
                </a:solidFill>
                <a:effectLst/>
                <a:latin typeface="ArialMT"/>
              </a:defRPr>
            </a:lvl1pPr>
          </a:lstStyle>
          <a:p>
            <a:pPr algn="r"/>
            <a:r>
              <a:rPr lang="pt-BR" sz="1800" b="1" i="1" dirty="0">
                <a:solidFill>
                  <a:srgbClr val="FF0000"/>
                </a:solidFill>
              </a:rPr>
              <a:t>Fonte: JDLINK</a:t>
            </a:r>
          </a:p>
        </p:txBody>
      </p:sp>
    </p:spTree>
    <p:extLst>
      <p:ext uri="{BB962C8B-B14F-4D97-AF65-F5344CB8AC3E}">
        <p14:creationId xmlns:p14="http://schemas.microsoft.com/office/powerpoint/2010/main" val="3470094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AAA89-999B-C3C3-46F6-43C202895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2B45F69-42C9-EBA9-0E3F-FDB5626EC3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06" y="236954"/>
            <a:ext cx="1818445" cy="89788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AB4EF29-9AC5-B06E-309B-FD0587A5119C}"/>
              </a:ext>
            </a:extLst>
          </p:cNvPr>
          <p:cNvSpPr txBox="1"/>
          <p:nvPr/>
        </p:nvSpPr>
        <p:spPr>
          <a:xfrm>
            <a:off x="404906" y="1997839"/>
            <a:ext cx="11003663" cy="3101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3200" b="1" dirty="0">
                <a:latin typeface="ArialMT"/>
              </a:rPr>
              <a:t>Análise de Equipamentos x Frentes de Serviço</a:t>
            </a:r>
          </a:p>
          <a:p>
            <a:endParaRPr lang="pt-BR" sz="2400" dirty="0">
              <a:latin typeface="ArialM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400" dirty="0">
                <a:latin typeface="ArialMT"/>
              </a:rPr>
              <a:t>Avaliação preliminar das condições das frentes de obra*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400" dirty="0">
                <a:latin typeface="ArialMT"/>
              </a:rPr>
              <a:t>O encarregado de Obras precisa auxiliar para manter as condições adequadas de circulação, manobra nos canteiros e frentes de Serviço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400" dirty="0">
                <a:latin typeface="ArialMT"/>
              </a:rPr>
              <a:t>Análise da utilização dos equipamentos para o tipo de serviço  </a:t>
            </a:r>
          </a:p>
        </p:txBody>
      </p:sp>
    </p:spTree>
    <p:extLst>
      <p:ext uri="{BB962C8B-B14F-4D97-AF65-F5344CB8AC3E}">
        <p14:creationId xmlns:p14="http://schemas.microsoft.com/office/powerpoint/2010/main" val="2891639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D3479C0B-2B2D-79E1-48DC-9FD9F90696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95"/>
          <a:stretch>
            <a:fillRect/>
          </a:stretch>
        </p:blipFill>
        <p:spPr>
          <a:xfrm>
            <a:off x="191692" y="628650"/>
            <a:ext cx="6785370" cy="602932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0E2A88E-2324-56DC-3B82-EA9A605ED5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00" t="9584" r="47838" b="2500"/>
          <a:stretch>
            <a:fillRect/>
          </a:stretch>
        </p:blipFill>
        <p:spPr>
          <a:xfrm>
            <a:off x="7050882" y="628650"/>
            <a:ext cx="4486275" cy="6029325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B0547B32-FF7B-58B9-2051-FC21B30BCFFC}"/>
              </a:ext>
            </a:extLst>
          </p:cNvPr>
          <p:cNvSpPr/>
          <p:nvPr/>
        </p:nvSpPr>
        <p:spPr>
          <a:xfrm>
            <a:off x="4500563" y="2185988"/>
            <a:ext cx="2178843" cy="20288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D25418A4-08D3-EAF2-2F5B-7413CDB77C5A}"/>
              </a:ext>
            </a:extLst>
          </p:cNvPr>
          <p:cNvSpPr/>
          <p:nvPr/>
        </p:nvSpPr>
        <p:spPr>
          <a:xfrm>
            <a:off x="9294019" y="1893094"/>
            <a:ext cx="2178843" cy="20288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55682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49632-64F3-B952-6E6D-7F1AED574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964B22F-20DD-E542-02A0-58ED76950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06" y="236954"/>
            <a:ext cx="1818445" cy="897886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B8189E7-037A-C666-092E-D81C017DFE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723" y="1323213"/>
            <a:ext cx="2896881" cy="515251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D007596-6892-2EB4-C2AD-03D13B136E9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557" y="1323213"/>
            <a:ext cx="2896881" cy="5152516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55578E54-4DC6-A6F9-ED06-4F1F251FD20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391" y="1323213"/>
            <a:ext cx="2896881" cy="5152516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7628D07F-C16E-92F1-CF0B-AD3440B8AE3B}"/>
              </a:ext>
            </a:extLst>
          </p:cNvPr>
          <p:cNvSpPr txBox="1"/>
          <p:nvPr/>
        </p:nvSpPr>
        <p:spPr>
          <a:xfrm>
            <a:off x="262032" y="1740664"/>
            <a:ext cx="44552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3200" b="1" dirty="0">
                <a:latin typeface="ArialMT"/>
              </a:rPr>
              <a:t>UTILIZAÇÃO </a:t>
            </a:r>
            <a:endParaRPr lang="pt-BR" sz="2400" b="1" dirty="0">
              <a:latin typeface="ArialMT"/>
            </a:endParaRPr>
          </a:p>
          <a:p>
            <a:pPr>
              <a:buNone/>
            </a:pPr>
            <a:r>
              <a:rPr lang="pt-BR" sz="2400" b="1" dirty="0">
                <a:latin typeface="ArialMT"/>
              </a:rPr>
              <a:t>Do Equipamento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BC8BF02-BD48-D156-FC27-05D3319E7C1D}"/>
              </a:ext>
            </a:extLst>
          </p:cNvPr>
          <p:cNvSpPr txBox="1"/>
          <p:nvPr/>
        </p:nvSpPr>
        <p:spPr>
          <a:xfrm>
            <a:off x="290605" y="2687161"/>
            <a:ext cx="2545464" cy="1728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2000" dirty="0">
              <a:latin typeface="ArialMT"/>
            </a:endParaRPr>
          </a:p>
          <a:p>
            <a:pPr>
              <a:lnSpc>
                <a:spcPct val="150000"/>
              </a:lnSpc>
            </a:pPr>
            <a:r>
              <a:rPr lang="pt-BR" sz="2000" dirty="0">
                <a:latin typeface="ArialMT"/>
              </a:rPr>
              <a:t>Uso de acordo com as especificações Técnicas.</a:t>
            </a:r>
          </a:p>
        </p:txBody>
      </p:sp>
    </p:spTree>
    <p:extLst>
      <p:ext uri="{BB962C8B-B14F-4D97-AF65-F5344CB8AC3E}">
        <p14:creationId xmlns:p14="http://schemas.microsoft.com/office/powerpoint/2010/main" val="2185305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WhatsApp Video 2026-04-24 at 11.59.41 (1)">
            <a:hlinkClick r:id="" action="ppaction://media"/>
            <a:extLst>
              <a:ext uri="{FF2B5EF4-FFF2-40B4-BE49-F238E27FC236}">
                <a16:creationId xmlns:a16="http://schemas.microsoft.com/office/drawing/2014/main" id="{B28D4A4C-3DE5-627D-7E4F-31CEB96E324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43886" y="291465"/>
            <a:ext cx="3407569" cy="6133624"/>
          </a:xfrm>
          <a:prstGeom prst="rect">
            <a:avLst/>
          </a:prstGeom>
        </p:spPr>
      </p:pic>
      <p:pic>
        <p:nvPicPr>
          <p:cNvPr id="5" name="WhatsApp Video 2026-04-24 at 12.04.25">
            <a:hlinkClick r:id="" action="ppaction://media"/>
            <a:extLst>
              <a:ext uri="{FF2B5EF4-FFF2-40B4-BE49-F238E27FC236}">
                <a16:creationId xmlns:a16="http://schemas.microsoft.com/office/drawing/2014/main" id="{B8F146D7-548C-97D2-BEA0-CBB32A216D7C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776787" y="291465"/>
            <a:ext cx="3407569" cy="6133624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CA93465-F4D4-9B44-267B-3E7C0503A3EB}"/>
              </a:ext>
            </a:extLst>
          </p:cNvPr>
          <p:cNvSpPr txBox="1"/>
          <p:nvPr/>
        </p:nvSpPr>
        <p:spPr>
          <a:xfrm>
            <a:off x="262032" y="1740664"/>
            <a:ext cx="445522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3200" b="1" dirty="0">
                <a:latin typeface="ArialMT"/>
              </a:rPr>
              <a:t>GESTÃO DE </a:t>
            </a:r>
          </a:p>
          <a:p>
            <a:pPr>
              <a:buNone/>
            </a:pPr>
            <a:r>
              <a:rPr lang="pt-BR" sz="3200" b="1" dirty="0">
                <a:latin typeface="ArialMT"/>
              </a:rPr>
              <a:t>Comunicação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AFFE860-2BAA-9F0F-8B49-AFE4CB813395}"/>
              </a:ext>
            </a:extLst>
          </p:cNvPr>
          <p:cNvSpPr txBox="1"/>
          <p:nvPr/>
        </p:nvSpPr>
        <p:spPr>
          <a:xfrm>
            <a:off x="290605" y="2687161"/>
            <a:ext cx="3552733" cy="150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2400" dirty="0">
              <a:latin typeface="ArialMT"/>
            </a:endParaRPr>
          </a:p>
          <a:p>
            <a:pPr>
              <a:lnSpc>
                <a:spcPct val="150000"/>
              </a:lnSpc>
            </a:pPr>
            <a:r>
              <a:rPr lang="pt-BR" sz="2400" dirty="0">
                <a:latin typeface="ArialMT"/>
              </a:rPr>
              <a:t>Informação repassada de forma Errada!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3342E34A-C668-490E-51BC-088AA0E04C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06" y="236954"/>
            <a:ext cx="1818445" cy="89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093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16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807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0A9AF-9581-706D-D827-4E41AA4E9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1A10587-44A3-F5A6-BD46-C40ED2F78E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06" y="236954"/>
            <a:ext cx="1818445" cy="89788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12DB9F5-C435-0F21-4FC3-0738D0798831}"/>
              </a:ext>
            </a:extLst>
          </p:cNvPr>
          <p:cNvSpPr txBox="1"/>
          <p:nvPr/>
        </p:nvSpPr>
        <p:spPr>
          <a:xfrm>
            <a:off x="404906" y="1670267"/>
            <a:ext cx="1117529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pt-BR" sz="4400" b="1" dirty="0"/>
              <a:t>CONSCIENTIZAÇÃO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E7A71F4-C64C-7B05-7AB5-AF73E60425CD}"/>
              </a:ext>
            </a:extLst>
          </p:cNvPr>
          <p:cNvSpPr txBox="1"/>
          <p:nvPr/>
        </p:nvSpPr>
        <p:spPr>
          <a:xfrm>
            <a:off x="528637" y="2578894"/>
            <a:ext cx="1094422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</a:rPr>
              <a:t>Utilização adequada dos Equipamentos e Máquinas é um dos Pilares para garantir Produtividade, Segurança e Controle de Custos!</a:t>
            </a:r>
          </a:p>
          <a:p>
            <a:endParaRPr lang="pt-BR" sz="2800" b="1" dirty="0">
              <a:solidFill>
                <a:srgbClr val="FF0000"/>
              </a:solidFill>
            </a:endParaRPr>
          </a:p>
          <a:p>
            <a:r>
              <a:rPr lang="pt-BR" sz="2800" b="1" dirty="0">
                <a:solidFill>
                  <a:srgbClr val="FF0000"/>
                </a:solidFill>
              </a:rPr>
              <a:t>Uso inadequado não apenas reduz a vida útil dos equipamentos, mas também aumenta os riscos de falhas, acidentes e paralização das atividades!</a:t>
            </a:r>
          </a:p>
          <a:p>
            <a:endParaRPr lang="pt-BR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2900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9DA4AF44-6A86-B516-42E8-F4FC581DC4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06" y="236954"/>
            <a:ext cx="1818445" cy="897886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04FB2E02-28DD-47EB-C4AF-4A6510CF31B1}"/>
              </a:ext>
            </a:extLst>
          </p:cNvPr>
          <p:cNvSpPr txBox="1"/>
          <p:nvPr/>
        </p:nvSpPr>
        <p:spPr>
          <a:xfrm>
            <a:off x="404906" y="1670267"/>
            <a:ext cx="1117529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pt-BR" sz="4400" b="1" dirty="0">
                <a:latin typeface="ArialMT"/>
              </a:rPr>
              <a:t>ROTINA DE PROGRAMAÇÃO DE EQUIPAMENTOS</a:t>
            </a:r>
          </a:p>
        </p:txBody>
      </p:sp>
    </p:spTree>
    <p:extLst>
      <p:ext uri="{BB962C8B-B14F-4D97-AF65-F5344CB8AC3E}">
        <p14:creationId xmlns:p14="http://schemas.microsoft.com/office/powerpoint/2010/main" val="2373436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DB95386-2BA1-328D-73E2-E84E293F1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06" y="1234481"/>
            <a:ext cx="11639726" cy="554688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C42AAC3-B831-6ABD-FA75-442B69DF8A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06" y="236954"/>
            <a:ext cx="1818445" cy="89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833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2ECBEC4-FF3A-7FCB-3C9B-D45CAF73A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582" y="947292"/>
            <a:ext cx="9030455" cy="580355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69137C1-6562-6B53-5C82-93C9061DE5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06" y="236954"/>
            <a:ext cx="1818445" cy="89788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748D386-38A4-B296-2363-9B47DAC0E4D1}"/>
              </a:ext>
            </a:extLst>
          </p:cNvPr>
          <p:cNvSpPr txBox="1"/>
          <p:nvPr/>
        </p:nvSpPr>
        <p:spPr>
          <a:xfrm>
            <a:off x="262032" y="1740664"/>
            <a:ext cx="44552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3200" b="1" dirty="0">
                <a:latin typeface="ArialMT"/>
              </a:rPr>
              <a:t>SOLTURA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3F928CA-DB67-DCED-16BD-C3854EB7B28B}"/>
              </a:ext>
            </a:extLst>
          </p:cNvPr>
          <p:cNvSpPr txBox="1"/>
          <p:nvPr/>
        </p:nvSpPr>
        <p:spPr>
          <a:xfrm>
            <a:off x="290606" y="2687161"/>
            <a:ext cx="28312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ArialMT"/>
              </a:rPr>
              <a:t>Acompanhamento será via sistema.</a:t>
            </a:r>
          </a:p>
        </p:txBody>
      </p:sp>
    </p:spTree>
    <p:extLst>
      <p:ext uri="{BB962C8B-B14F-4D97-AF65-F5344CB8AC3E}">
        <p14:creationId xmlns:p14="http://schemas.microsoft.com/office/powerpoint/2010/main" val="348015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B45ED-FA3C-4D25-CF26-4AA54690A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F6D7945-E66E-4981-782D-03851635C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06" y="236954"/>
            <a:ext cx="1818445" cy="89788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38B9377-69BF-41EC-02DC-E07D14FFCD0E}"/>
              </a:ext>
            </a:extLst>
          </p:cNvPr>
          <p:cNvSpPr txBox="1"/>
          <p:nvPr/>
        </p:nvSpPr>
        <p:spPr>
          <a:xfrm>
            <a:off x="404906" y="1670267"/>
            <a:ext cx="1117529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lvl="0">
              <a:defRPr sz="4400" b="1">
                <a:latin typeface="ArialMT"/>
              </a:defRPr>
            </a:lvl1pPr>
          </a:lstStyle>
          <a:p>
            <a:r>
              <a:rPr lang="pt-BR" dirty="0"/>
              <a:t>MEDIÇÃO DE EQUIPAMENTOS X OBRAS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B687ED9-C4CE-C831-34DC-19119734A5D7}"/>
              </a:ext>
            </a:extLst>
          </p:cNvPr>
          <p:cNvSpPr txBox="1"/>
          <p:nvPr/>
        </p:nvSpPr>
        <p:spPr>
          <a:xfrm>
            <a:off x="528637" y="2578894"/>
            <a:ext cx="109442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800" dirty="0"/>
              <a:t>TCOM-TMKP, Nova rotina de Comunicação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800" dirty="0"/>
              <a:t>Relatório de Gestão de Frotas 5.4 (medições)</a:t>
            </a:r>
          </a:p>
          <a:p>
            <a:endParaRPr lang="pt-BR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4551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13181</TotalTime>
  <Words>605</Words>
  <Application>Microsoft Office PowerPoint</Application>
  <PresentationFormat>Widescreen</PresentationFormat>
  <Paragraphs>161</Paragraphs>
  <Slides>30</Slides>
  <Notes>1</Notes>
  <HiddenSlides>0</HiddenSlides>
  <MMClips>2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8" baseType="lpstr">
      <vt:lpstr>Aptos Narrow</vt:lpstr>
      <vt:lpstr>Arial</vt:lpstr>
      <vt:lpstr>ArialMT</vt:lpstr>
      <vt:lpstr>Calibri</vt:lpstr>
      <vt:lpstr>Calibri Light</vt:lpstr>
      <vt:lpstr>Times New Roman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Inacio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Inácio Câmara</dc:creator>
  <cp:lastModifiedBy>Alexandro Mendonça</cp:lastModifiedBy>
  <cp:revision>393</cp:revision>
  <cp:lastPrinted>2025-07-30T18:36:52Z</cp:lastPrinted>
  <dcterms:created xsi:type="dcterms:W3CDTF">2024-12-10T17:32:43Z</dcterms:created>
  <dcterms:modified xsi:type="dcterms:W3CDTF">2026-05-18T14:19:06Z</dcterms:modified>
</cp:coreProperties>
</file>